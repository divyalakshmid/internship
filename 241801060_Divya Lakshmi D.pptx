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4694C16-5BCE-488E-96D2-5F843AE11BFC}">
  <a:tblStyle styleId="{94694C16-5BCE-488E-96D2-5F843AE11BF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8787"/>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1" name="Shape 21"/>
        <p:cNvGrpSpPr/>
        <p:nvPr/>
      </p:nvGrpSpPr>
      <p:grpSpPr>
        <a:xfrm>
          <a:off x="0" y="0"/>
          <a:ext cx="0" cy="0"/>
          <a:chOff x="0" y="0"/>
          <a:chExt cx="0" cy="0"/>
        </a:xfrm>
      </p:grpSpPr>
      <p:sp>
        <p:nvSpPr>
          <p:cNvPr id="22" name="Google Shape;22;p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7" name="Shape 27"/>
        <p:cNvGrpSpPr/>
        <p:nvPr/>
      </p:nvGrpSpPr>
      <p:grpSpPr>
        <a:xfrm>
          <a:off x="0" y="0"/>
          <a:ext cx="0" cy="0"/>
          <a:chOff x="0" y="0"/>
          <a:chExt cx="0" cy="0"/>
        </a:xfrm>
      </p:grpSpPr>
      <p:sp>
        <p:nvSpPr>
          <p:cNvPr id="28" name="Google Shape;28;p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4"/>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 name="Google Shape;30;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3" name="Shape 33"/>
        <p:cNvGrpSpPr/>
        <p:nvPr/>
      </p:nvGrpSpPr>
      <p:grpSpPr>
        <a:xfrm>
          <a:off x="0" y="0"/>
          <a:ext cx="0" cy="0"/>
          <a:chOff x="0" y="0"/>
          <a:chExt cx="0" cy="0"/>
        </a:xfrm>
      </p:grpSpPr>
      <p:sp>
        <p:nvSpPr>
          <p:cNvPr id="34" name="Google Shape;34;p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 name="Google Shape;35;p5"/>
          <p:cNvSpPr/>
          <p:nvPr>
            <p:ph idx="2" type="pic"/>
          </p:nvPr>
        </p:nvSpPr>
        <p:spPr>
          <a:xfrm>
            <a:off x="1792288" y="612775"/>
            <a:ext cx="5486400" cy="4114800"/>
          </a:xfrm>
          <a:prstGeom prst="rect">
            <a:avLst/>
          </a:prstGeom>
          <a:noFill/>
          <a:ln>
            <a:noFill/>
          </a:ln>
        </p:spPr>
      </p:sp>
      <p:sp>
        <p:nvSpPr>
          <p:cNvPr id="36" name="Google Shape;36;p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37" name="Google Shape;37;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0" name="Shape 40"/>
        <p:cNvGrpSpPr/>
        <p:nvPr/>
      </p:nvGrpSpPr>
      <p:grpSpPr>
        <a:xfrm>
          <a:off x="0" y="0"/>
          <a:ext cx="0" cy="0"/>
          <a:chOff x="0" y="0"/>
          <a:chExt cx="0" cy="0"/>
        </a:xfrm>
      </p:grpSpPr>
      <p:sp>
        <p:nvSpPr>
          <p:cNvPr id="41" name="Google Shape;41;p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 name="Google Shape;42;p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43" name="Google Shape;43;p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44" name="Google Shape;44;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7" name="Shape 47"/>
        <p:cNvGrpSpPr/>
        <p:nvPr/>
      </p:nvGrpSpPr>
      <p:grpSpPr>
        <a:xfrm>
          <a:off x="0" y="0"/>
          <a:ext cx="0" cy="0"/>
          <a:chOff x="0" y="0"/>
          <a:chExt cx="0" cy="0"/>
        </a:xfrm>
      </p:grpSpPr>
      <p:sp>
        <p:nvSpPr>
          <p:cNvPr id="48" name="Google Shape;48;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3" name="Google Shape;53;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6" name="Shape 56"/>
        <p:cNvGrpSpPr/>
        <p:nvPr/>
      </p:nvGrpSpPr>
      <p:grpSpPr>
        <a:xfrm>
          <a:off x="0" y="0"/>
          <a:ext cx="0" cy="0"/>
          <a:chOff x="0" y="0"/>
          <a:chExt cx="0" cy="0"/>
        </a:xfrm>
      </p:grpSpPr>
      <p:sp>
        <p:nvSpPr>
          <p:cNvPr id="57" name="Google Shape;57;p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8" name="Google Shape;58;p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9" name="Google Shape;59;p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0" name="Google Shape;60;p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1" name="Google Shape;61;p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5" name="Shape 65"/>
        <p:cNvGrpSpPr/>
        <p:nvPr/>
      </p:nvGrpSpPr>
      <p:grpSpPr>
        <a:xfrm>
          <a:off x="0" y="0"/>
          <a:ext cx="0" cy="0"/>
          <a:chOff x="0" y="0"/>
          <a:chExt cx="0" cy="0"/>
        </a:xfrm>
      </p:grpSpPr>
      <p:sp>
        <p:nvSpPr>
          <p:cNvPr id="66" name="Google Shape;66;p1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7" name="Google Shape;67;p1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68" name="Google Shape;68;p1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 name="Google Shape;74;p1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1" name="Shape 91"/>
        <p:cNvGrpSpPr/>
        <p:nvPr/>
      </p:nvGrpSpPr>
      <p:grpSpPr>
        <a:xfrm>
          <a:off x="0" y="0"/>
          <a:ext cx="0" cy="0"/>
          <a:chOff x="0" y="0"/>
          <a:chExt cx="0" cy="0"/>
        </a:xfrm>
      </p:grpSpPr>
      <p:sp>
        <p:nvSpPr>
          <p:cNvPr id="92" name="Google Shape;92;p13"/>
          <p:cNvSpPr txBox="1"/>
          <p:nvPr>
            <p:ph type="title"/>
          </p:nvPr>
        </p:nvSpPr>
        <p:spPr>
          <a:xfrm>
            <a:off x="457200" y="228600"/>
            <a:ext cx="8001000" cy="685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3" name="Google Shape;93;p13"/>
          <p:cNvSpPr txBox="1"/>
          <p:nvPr>
            <p:ph idx="1" type="body"/>
          </p:nvPr>
        </p:nvSpPr>
        <p:spPr>
          <a:xfrm>
            <a:off x="228600" y="1295400"/>
            <a:ext cx="8686800" cy="48307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4" name="Google Shape;9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1.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1" name="Google Shape;11;p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 name="Shape 78"/>
        <p:cNvGrpSpPr/>
        <p:nvPr/>
      </p:nvGrpSpPr>
      <p:grpSpPr>
        <a:xfrm>
          <a:off x="0" y="0"/>
          <a:ext cx="0" cy="0"/>
          <a:chOff x="0" y="0"/>
          <a:chExt cx="0" cy="0"/>
        </a:xfrm>
      </p:grpSpPr>
      <p:sp>
        <p:nvSpPr>
          <p:cNvPr id="79" name="Google Shape;79;p12"/>
          <p:cNvSpPr txBox="1"/>
          <p:nvPr/>
        </p:nvSpPr>
        <p:spPr>
          <a:xfrm>
            <a:off x="0" y="0"/>
            <a:ext cx="9144000" cy="1044575"/>
          </a:xfrm>
          <a:prstGeom prst="rect">
            <a:avLst/>
          </a:prstGeom>
          <a:solidFill>
            <a:srgbClr val="6A1B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0" name="Google Shape;80;p12"/>
          <p:cNvSpPr txBox="1"/>
          <p:nvPr/>
        </p:nvSpPr>
        <p:spPr>
          <a:xfrm>
            <a:off x="8534400" y="0"/>
            <a:ext cx="609600" cy="1044575"/>
          </a:xfrm>
          <a:prstGeom prst="rect">
            <a:avLst/>
          </a:prstGeom>
          <a:solidFill>
            <a:srgbClr val="FBC02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1" name="Google Shape;81;p12"/>
          <p:cNvSpPr txBox="1"/>
          <p:nvPr/>
        </p:nvSpPr>
        <p:spPr>
          <a:xfrm>
            <a:off x="0" y="6629400"/>
            <a:ext cx="7162800" cy="95250"/>
          </a:xfrm>
          <a:prstGeom prst="rect">
            <a:avLst/>
          </a:prstGeom>
          <a:solidFill>
            <a:srgbClr val="FBC0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2" name="Google Shape;82;p12"/>
          <p:cNvSpPr txBox="1"/>
          <p:nvPr/>
        </p:nvSpPr>
        <p:spPr>
          <a:xfrm>
            <a:off x="0" y="6477000"/>
            <a:ext cx="7162800" cy="95250"/>
          </a:xfrm>
          <a:prstGeom prst="rect">
            <a:avLst/>
          </a:prstGeom>
          <a:solidFill>
            <a:srgbClr val="6A1B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3" name="Google Shape;83;p12"/>
          <p:cNvSpPr txBox="1"/>
          <p:nvPr/>
        </p:nvSpPr>
        <p:spPr>
          <a:xfrm>
            <a:off x="8135937" y="6629400"/>
            <a:ext cx="1008062" cy="76200"/>
          </a:xfrm>
          <a:prstGeom prst="rect">
            <a:avLst/>
          </a:prstGeom>
          <a:solidFill>
            <a:srgbClr val="FBC0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4" name="Google Shape;84;p12"/>
          <p:cNvSpPr txBox="1"/>
          <p:nvPr/>
        </p:nvSpPr>
        <p:spPr>
          <a:xfrm flipH="1" rot="10800000">
            <a:off x="8135937" y="6477000"/>
            <a:ext cx="1008062" cy="76200"/>
          </a:xfrm>
          <a:prstGeom prst="rect">
            <a:avLst/>
          </a:prstGeom>
          <a:solidFill>
            <a:srgbClr val="6A1B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85" name="Google Shape;85;p12"/>
          <p:cNvPicPr preferRelativeResize="0"/>
          <p:nvPr/>
        </p:nvPicPr>
        <p:blipFill rotWithShape="1">
          <a:blip r:embed="rId1">
            <a:alphaModFix/>
          </a:blip>
          <a:srcRect b="0" l="0" r="0" t="0"/>
          <a:stretch/>
        </p:blipFill>
        <p:spPr>
          <a:xfrm>
            <a:off x="7010400" y="5670550"/>
            <a:ext cx="1371600" cy="1143000"/>
          </a:xfrm>
          <a:prstGeom prst="rect">
            <a:avLst/>
          </a:prstGeom>
          <a:noFill/>
          <a:ln>
            <a:noFill/>
          </a:ln>
        </p:spPr>
      </p:pic>
      <p:sp>
        <p:nvSpPr>
          <p:cNvPr id="86" name="Google Shape;86;p1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87" name="Google Shape;87;p1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8" name="Google Shape;8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9" name="Google Shape;8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0" name="Google Shape;9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8"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4"/>
          <p:cNvSpPr txBox="1"/>
          <p:nvPr>
            <p:ph idx="1" type="subTitle"/>
          </p:nvPr>
        </p:nvSpPr>
        <p:spPr>
          <a:xfrm>
            <a:off x="1371600" y="4114800"/>
            <a:ext cx="6400800" cy="17526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898989"/>
              </a:buClr>
              <a:buSzPts val="3200"/>
              <a:buNone/>
            </a:pPr>
            <a:r>
              <a:rPr b="0" i="0" lang="en-US" sz="3200" u="none">
                <a:solidFill>
                  <a:schemeClr val="dk1"/>
                </a:solidFill>
                <a:latin typeface="Calibri"/>
                <a:ea typeface="Calibri"/>
                <a:cs typeface="Calibri"/>
                <a:sym typeface="Calibri"/>
              </a:rPr>
              <a:t>Presented by</a:t>
            </a:r>
            <a:endParaRPr>
              <a:solidFill>
                <a:schemeClr val="dk1"/>
              </a:solidFill>
            </a:endParaRPr>
          </a:p>
          <a:p>
            <a:pPr indent="0" lvl="0" marL="0" rtl="0" algn="ctr">
              <a:lnSpc>
                <a:spcPct val="100000"/>
              </a:lnSpc>
              <a:spcBef>
                <a:spcPts val="640"/>
              </a:spcBef>
              <a:spcAft>
                <a:spcPts val="0"/>
              </a:spcAft>
              <a:buClr>
                <a:srgbClr val="898989"/>
              </a:buClr>
              <a:buSzPts val="3200"/>
              <a:buNone/>
            </a:pPr>
            <a:r>
              <a:rPr lang="en-US">
                <a:solidFill>
                  <a:schemeClr val="dk1"/>
                </a:solidFill>
              </a:rPr>
              <a:t>Divya Lakshmi D</a:t>
            </a:r>
            <a:endParaRPr>
              <a:solidFill>
                <a:schemeClr val="dk1"/>
              </a:solidFill>
            </a:endParaRPr>
          </a:p>
          <a:p>
            <a:pPr indent="0" lvl="0" marL="0" rtl="0" algn="ctr">
              <a:lnSpc>
                <a:spcPct val="100000"/>
              </a:lnSpc>
              <a:spcBef>
                <a:spcPts val="640"/>
              </a:spcBef>
              <a:spcAft>
                <a:spcPts val="0"/>
              </a:spcAft>
              <a:buClr>
                <a:srgbClr val="898989"/>
              </a:buClr>
              <a:buSzPts val="3200"/>
              <a:buNone/>
            </a:pPr>
            <a:r>
              <a:rPr lang="en-US">
                <a:solidFill>
                  <a:schemeClr val="dk1"/>
                </a:solidFill>
              </a:rPr>
              <a:t>2116241801060</a:t>
            </a:r>
            <a:endParaRPr>
              <a:solidFill>
                <a:schemeClr val="dk1"/>
              </a:solidFill>
            </a:endParaRPr>
          </a:p>
        </p:txBody>
      </p:sp>
      <p:sp>
        <p:nvSpPr>
          <p:cNvPr id="102" name="Google Shape;102;p14"/>
          <p:cNvSpPr txBox="1"/>
          <p:nvPr/>
        </p:nvSpPr>
        <p:spPr>
          <a:xfrm>
            <a:off x="8991600" y="0"/>
            <a:ext cx="152400" cy="1066800"/>
          </a:xfrm>
          <a:prstGeom prst="rect">
            <a:avLst/>
          </a:prstGeom>
          <a:solidFill>
            <a:srgbClr val="FBC02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3" name="Google Shape;103;p14"/>
          <p:cNvSpPr txBox="1"/>
          <p:nvPr/>
        </p:nvSpPr>
        <p:spPr>
          <a:xfrm>
            <a:off x="685800" y="304800"/>
            <a:ext cx="7391400" cy="646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3600"/>
              <a:buFont typeface="Calibri"/>
              <a:buNone/>
            </a:pPr>
            <a:r>
              <a:rPr b="0" i="0" lang="en-US" sz="3600" u="none">
                <a:solidFill>
                  <a:schemeClr val="lt1"/>
                </a:solidFill>
                <a:latin typeface="Calibri"/>
                <a:ea typeface="Calibri"/>
                <a:cs typeface="Calibri"/>
                <a:sym typeface="Calibri"/>
              </a:rPr>
              <a:t>Title</a:t>
            </a:r>
            <a:endParaRPr/>
          </a:p>
        </p:txBody>
      </p:sp>
      <p:sp>
        <p:nvSpPr>
          <p:cNvPr id="104" name="Google Shape;104;p14"/>
          <p:cNvSpPr txBox="1"/>
          <p:nvPr/>
        </p:nvSpPr>
        <p:spPr>
          <a:xfrm flipH="1" rot="10800000">
            <a:off x="0" y="6553200"/>
            <a:ext cx="9144000" cy="76200"/>
          </a:xfrm>
          <a:prstGeom prst="rect">
            <a:avLst/>
          </a:prstGeom>
          <a:solidFill>
            <a:srgbClr val="FBC0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5" name="Google Shape;105;p14"/>
          <p:cNvSpPr txBox="1"/>
          <p:nvPr/>
        </p:nvSpPr>
        <p:spPr>
          <a:xfrm>
            <a:off x="0" y="6477000"/>
            <a:ext cx="9144000" cy="76200"/>
          </a:xfrm>
          <a:prstGeom prst="rect">
            <a:avLst/>
          </a:prstGeom>
          <a:solidFill>
            <a:srgbClr val="6A1B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06" name="Google Shape;106;p14"/>
          <p:cNvPicPr preferRelativeResize="0"/>
          <p:nvPr/>
        </p:nvPicPr>
        <p:blipFill rotWithShape="1">
          <a:blip r:embed="rId3">
            <a:alphaModFix/>
          </a:blip>
          <a:srcRect b="11053" l="0" r="0" t="10264"/>
          <a:stretch/>
        </p:blipFill>
        <p:spPr>
          <a:xfrm>
            <a:off x="1676400" y="190500"/>
            <a:ext cx="5791200" cy="1752600"/>
          </a:xfrm>
          <a:prstGeom prst="rect">
            <a:avLst/>
          </a:prstGeom>
          <a:noFill/>
          <a:ln>
            <a:noFill/>
          </a:ln>
        </p:spPr>
      </p:pic>
      <p:sp>
        <p:nvSpPr>
          <p:cNvPr id="107" name="Google Shape;107;p14"/>
          <p:cNvSpPr txBox="1"/>
          <p:nvPr/>
        </p:nvSpPr>
        <p:spPr>
          <a:xfrm>
            <a:off x="609600" y="2433637"/>
            <a:ext cx="8153400" cy="1190625"/>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984807"/>
              </a:buClr>
              <a:buSzPts val="3200"/>
              <a:buFont typeface="Calibri"/>
              <a:buNone/>
            </a:pPr>
            <a:r>
              <a:rPr b="1" i="0" lang="en-US" sz="3200" u="none">
                <a:solidFill>
                  <a:srgbClr val="984807"/>
                </a:solidFill>
                <a:latin typeface="Calibri"/>
                <a:ea typeface="Calibri"/>
                <a:cs typeface="Calibri"/>
                <a:sym typeface="Calibri"/>
              </a:rPr>
              <a:t>DEPARTMENT OF ARTIFICIAL INTELLIGENCE AND DATA SCIENCE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5"/>
          <p:cNvSpPr txBox="1"/>
          <p:nvPr>
            <p:ph type="title"/>
          </p:nvPr>
        </p:nvSpPr>
        <p:spPr>
          <a:xfrm>
            <a:off x="457200" y="228600"/>
            <a:ext cx="80010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4000"/>
              <a:buFont typeface="Calibri"/>
              <a:buNone/>
            </a:pPr>
            <a:r>
              <a:rPr b="0" i="0" lang="en-US" sz="4000" u="none">
                <a:solidFill>
                  <a:schemeClr val="lt1"/>
                </a:solidFill>
                <a:latin typeface="Calibri"/>
                <a:ea typeface="Calibri"/>
                <a:cs typeface="Calibri"/>
                <a:sym typeface="Calibri"/>
              </a:rPr>
              <a:t>TITLE OF THE INTERNSHIP</a:t>
            </a:r>
            <a:endParaRPr/>
          </a:p>
        </p:txBody>
      </p:sp>
      <p:graphicFrame>
        <p:nvGraphicFramePr>
          <p:cNvPr id="113" name="Google Shape;113;p15"/>
          <p:cNvGraphicFramePr/>
          <p:nvPr/>
        </p:nvGraphicFramePr>
        <p:xfrm>
          <a:off x="323850" y="1219200"/>
          <a:ext cx="3000000" cy="3000000"/>
        </p:xfrm>
        <a:graphic>
          <a:graphicData uri="http://schemas.openxmlformats.org/drawingml/2006/table">
            <a:tbl>
              <a:tblPr>
                <a:noFill/>
                <a:tableStyleId>{94694C16-5BCE-488E-96D2-5F843AE11BFC}</a:tableStyleId>
              </a:tblPr>
              <a:tblGrid>
                <a:gridCol w="3398825"/>
                <a:gridCol w="228600"/>
                <a:gridCol w="4887900"/>
              </a:tblGrid>
              <a:tr h="427025">
                <a:tc>
                  <a:txBody>
                    <a:bodyPr/>
                    <a:lstStyle/>
                    <a:p>
                      <a:pPr indent="0" lvl="0" marL="0" marR="0" rtl="0" algn="l">
                        <a:lnSpc>
                          <a:spcPct val="115000"/>
                        </a:lnSpc>
                        <a:spcBef>
                          <a:spcPts val="0"/>
                        </a:spcBef>
                        <a:spcAft>
                          <a:spcPts val="0"/>
                        </a:spcAft>
                        <a:buClr>
                          <a:srgbClr val="000000"/>
                        </a:buClr>
                        <a:buSzPts val="1800"/>
                        <a:buFont typeface="Times New Roman"/>
                        <a:buNone/>
                      </a:pPr>
                      <a:r>
                        <a:rPr b="1" i="0" lang="en-US" sz="1800" u="none" cap="none" strike="noStrike">
                          <a:solidFill>
                            <a:srgbClr val="000000"/>
                          </a:solidFill>
                          <a:latin typeface="Times New Roman"/>
                          <a:ea typeface="Times New Roman"/>
                          <a:cs typeface="Times New Roman"/>
                          <a:sym typeface="Times New Roman"/>
                        </a:rPr>
                        <a:t>REGISTRATION NUMBER</a:t>
                      </a:r>
                      <a:endParaRPr/>
                    </a:p>
                  </a:txBody>
                  <a:tcPr marT="0" marB="0" marR="68575" marL="68575" anchor="ctr"/>
                </a:tc>
                <a:tc>
                  <a:txBody>
                    <a:bodyPr/>
                    <a:lstStyle/>
                    <a:p>
                      <a:pPr indent="0" lvl="0" marL="0" marR="0" rtl="0" algn="ctr">
                        <a:lnSpc>
                          <a:spcPct val="115000"/>
                        </a:lnSpc>
                        <a:spcBef>
                          <a:spcPts val="0"/>
                        </a:spcBef>
                        <a:spcAft>
                          <a:spcPts val="0"/>
                        </a:spcAft>
                        <a:buClr>
                          <a:srgbClr val="000000"/>
                        </a:buClr>
                        <a:buSzPts val="1800"/>
                        <a:buFont typeface="Times New Roman"/>
                        <a:buNone/>
                      </a:pPr>
                      <a:r>
                        <a:rPr b="1" i="0" lang="en-US" sz="1800" u="none" cap="none" strike="noStrike">
                          <a:solidFill>
                            <a:srgbClr val="000000"/>
                          </a:solidFill>
                          <a:latin typeface="Times New Roman"/>
                          <a:ea typeface="Times New Roman"/>
                          <a:cs typeface="Times New Roman"/>
                          <a:sym typeface="Times New Roman"/>
                        </a:rPr>
                        <a:t>:</a:t>
                      </a:r>
                      <a:endParaRPr/>
                    </a:p>
                  </a:txBody>
                  <a:tcPr marT="0" marB="0" marR="68575" marL="68575" anchor="ct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2116241801060</a:t>
                      </a:r>
                      <a:endParaRPr sz="1800">
                        <a:solidFill>
                          <a:schemeClr val="dk1"/>
                        </a:solidFill>
                        <a:latin typeface="Calibri"/>
                        <a:ea typeface="Calibri"/>
                        <a:cs typeface="Calibri"/>
                        <a:sym typeface="Calibri"/>
                      </a:endParaRPr>
                    </a:p>
                  </a:txBody>
                  <a:tcPr marT="0" marB="0" marR="68575" marL="68575" anchor="ctr"/>
                </a:tc>
              </a:tr>
              <a:tr h="412750">
                <a:tc>
                  <a:txBody>
                    <a:bodyPr/>
                    <a:lstStyle/>
                    <a:p>
                      <a:pPr indent="0" lvl="0" marL="0" marR="0" rtl="0" algn="l">
                        <a:lnSpc>
                          <a:spcPct val="115000"/>
                        </a:lnSpc>
                        <a:spcBef>
                          <a:spcPts val="0"/>
                        </a:spcBef>
                        <a:spcAft>
                          <a:spcPts val="0"/>
                        </a:spcAft>
                        <a:buClr>
                          <a:srgbClr val="000000"/>
                        </a:buClr>
                        <a:buSzPts val="1800"/>
                        <a:buFont typeface="Times New Roman"/>
                        <a:buNone/>
                      </a:pPr>
                      <a:r>
                        <a:rPr b="1" i="0" lang="en-US" sz="1800" u="none">
                          <a:solidFill>
                            <a:srgbClr val="000000"/>
                          </a:solidFill>
                          <a:latin typeface="Times New Roman"/>
                          <a:ea typeface="Times New Roman"/>
                          <a:cs typeface="Times New Roman"/>
                          <a:sym typeface="Times New Roman"/>
                        </a:rPr>
                        <a:t>STUDENT NAME</a:t>
                      </a:r>
                      <a:endParaRPr/>
                    </a:p>
                  </a:txBody>
                  <a:tcPr marT="0" marB="0" marR="68575" marL="68575" anchor="ctr"/>
                </a:tc>
                <a:tc>
                  <a:txBody>
                    <a:bodyPr/>
                    <a:lstStyle/>
                    <a:p>
                      <a:pPr indent="0" lvl="0" marL="0" marR="0" rtl="0" algn="ctr">
                        <a:lnSpc>
                          <a:spcPct val="115000"/>
                        </a:lnSpc>
                        <a:spcBef>
                          <a:spcPts val="0"/>
                        </a:spcBef>
                        <a:spcAft>
                          <a:spcPts val="0"/>
                        </a:spcAft>
                        <a:buClr>
                          <a:srgbClr val="000000"/>
                        </a:buClr>
                        <a:buSzPts val="1800"/>
                        <a:buFont typeface="Times New Roman"/>
                        <a:buNone/>
                      </a:pPr>
                      <a:r>
                        <a:rPr b="1" i="0" lang="en-US" sz="1800" u="none">
                          <a:solidFill>
                            <a:srgbClr val="000000"/>
                          </a:solidFill>
                          <a:latin typeface="Times New Roman"/>
                          <a:ea typeface="Times New Roman"/>
                          <a:cs typeface="Times New Roman"/>
                          <a:sym typeface="Times New Roman"/>
                        </a:rPr>
                        <a:t>:</a:t>
                      </a:r>
                      <a:endParaRPr/>
                    </a:p>
                  </a:txBody>
                  <a:tcPr marT="0" marB="0" marR="68575" marL="68575" anchor="ct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Divya Lakshmi D</a:t>
                      </a:r>
                      <a:endParaRPr sz="1800">
                        <a:solidFill>
                          <a:schemeClr val="dk1"/>
                        </a:solidFill>
                        <a:latin typeface="Calibri"/>
                        <a:ea typeface="Calibri"/>
                        <a:cs typeface="Calibri"/>
                        <a:sym typeface="Calibri"/>
                      </a:endParaRPr>
                    </a:p>
                  </a:txBody>
                  <a:tcPr marT="0" marB="0" marR="68575" marL="68575" anchor="ctr"/>
                </a:tc>
              </a:tr>
              <a:tr h="427025">
                <a:tc>
                  <a:txBody>
                    <a:bodyPr/>
                    <a:lstStyle/>
                    <a:p>
                      <a:pPr indent="0" lvl="0" marL="0" marR="0" rtl="0" algn="l">
                        <a:lnSpc>
                          <a:spcPct val="115000"/>
                        </a:lnSpc>
                        <a:spcBef>
                          <a:spcPts val="0"/>
                        </a:spcBef>
                        <a:spcAft>
                          <a:spcPts val="0"/>
                        </a:spcAft>
                        <a:buClr>
                          <a:srgbClr val="000000"/>
                        </a:buClr>
                        <a:buSzPts val="1800"/>
                        <a:buFont typeface="Times New Roman"/>
                        <a:buNone/>
                      </a:pPr>
                      <a:r>
                        <a:rPr b="1" i="0" lang="en-US" sz="1800" u="none">
                          <a:solidFill>
                            <a:srgbClr val="000000"/>
                          </a:solidFill>
                          <a:latin typeface="Times New Roman"/>
                          <a:ea typeface="Times New Roman"/>
                          <a:cs typeface="Times New Roman"/>
                          <a:sym typeface="Times New Roman"/>
                        </a:rPr>
                        <a:t>YEAR / SEMESTER</a:t>
                      </a:r>
                      <a:endParaRPr/>
                    </a:p>
                  </a:txBody>
                  <a:tcPr marT="0" marB="0" marR="68575" marL="68575" anchor="ctr"/>
                </a:tc>
                <a:tc>
                  <a:txBody>
                    <a:bodyPr/>
                    <a:lstStyle/>
                    <a:p>
                      <a:pPr indent="0" lvl="0" marL="0" marR="0" rtl="0" algn="ctr">
                        <a:lnSpc>
                          <a:spcPct val="115000"/>
                        </a:lnSpc>
                        <a:spcBef>
                          <a:spcPts val="0"/>
                        </a:spcBef>
                        <a:spcAft>
                          <a:spcPts val="0"/>
                        </a:spcAft>
                        <a:buClr>
                          <a:srgbClr val="000000"/>
                        </a:buClr>
                        <a:buSzPts val="1800"/>
                        <a:buFont typeface="Times New Roman"/>
                        <a:buNone/>
                      </a:pPr>
                      <a:r>
                        <a:rPr b="1" i="0" lang="en-US" sz="1800" u="none">
                          <a:solidFill>
                            <a:srgbClr val="000000"/>
                          </a:solidFill>
                          <a:latin typeface="Times New Roman"/>
                          <a:ea typeface="Times New Roman"/>
                          <a:cs typeface="Times New Roman"/>
                          <a:sym typeface="Times New Roman"/>
                        </a:rPr>
                        <a:t>:</a:t>
                      </a:r>
                      <a:endParaRPr/>
                    </a:p>
                  </a:txBody>
                  <a:tcPr marT="0" marB="0" marR="68575" marL="68575" anchor="ct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2nd Year | 4th Semester</a:t>
                      </a:r>
                      <a:endParaRPr sz="1800">
                        <a:solidFill>
                          <a:schemeClr val="dk1"/>
                        </a:solidFill>
                        <a:latin typeface="Calibri"/>
                        <a:ea typeface="Calibri"/>
                        <a:cs typeface="Calibri"/>
                        <a:sym typeface="Calibri"/>
                      </a:endParaRPr>
                    </a:p>
                  </a:txBody>
                  <a:tcPr marT="0" marB="0" marR="68575" marL="68575" anchor="ctr"/>
                </a:tc>
              </a:tr>
              <a:tr h="696900">
                <a:tc>
                  <a:txBody>
                    <a:bodyPr/>
                    <a:lstStyle/>
                    <a:p>
                      <a:pPr indent="0" lvl="0" marL="0" marR="0" rtl="0" algn="l">
                        <a:lnSpc>
                          <a:spcPct val="115000"/>
                        </a:lnSpc>
                        <a:spcBef>
                          <a:spcPts val="0"/>
                        </a:spcBef>
                        <a:spcAft>
                          <a:spcPts val="0"/>
                        </a:spcAft>
                        <a:buClr>
                          <a:srgbClr val="000000"/>
                        </a:buClr>
                        <a:buSzPts val="1800"/>
                        <a:buFont typeface="Times New Roman"/>
                        <a:buNone/>
                      </a:pPr>
                      <a:r>
                        <a:rPr b="1" i="0" lang="en-US" sz="1800" u="none">
                          <a:solidFill>
                            <a:srgbClr val="000000"/>
                          </a:solidFill>
                          <a:latin typeface="Times New Roman"/>
                          <a:ea typeface="Times New Roman"/>
                          <a:cs typeface="Times New Roman"/>
                          <a:sym typeface="Times New Roman"/>
                        </a:rPr>
                        <a:t>NAME OF THE ORGANIZATION / COMPANY</a:t>
                      </a:r>
                      <a:endParaRPr/>
                    </a:p>
                  </a:txBody>
                  <a:tcPr marT="0" marB="0" marR="68575" marL="68575" anchor="ctr"/>
                </a:tc>
                <a:tc>
                  <a:txBody>
                    <a:bodyPr/>
                    <a:lstStyle/>
                    <a:p>
                      <a:pPr indent="0" lvl="0" marL="0" marR="0" rtl="0" algn="ctr">
                        <a:lnSpc>
                          <a:spcPct val="115000"/>
                        </a:lnSpc>
                        <a:spcBef>
                          <a:spcPts val="0"/>
                        </a:spcBef>
                        <a:spcAft>
                          <a:spcPts val="0"/>
                        </a:spcAft>
                        <a:buClr>
                          <a:srgbClr val="000000"/>
                        </a:buClr>
                        <a:buSzPts val="1800"/>
                        <a:buFont typeface="Times New Roman"/>
                        <a:buNone/>
                      </a:pPr>
                      <a:r>
                        <a:rPr b="1" i="0" lang="en-US" sz="1800" u="none">
                          <a:solidFill>
                            <a:srgbClr val="000000"/>
                          </a:solidFill>
                          <a:latin typeface="Times New Roman"/>
                          <a:ea typeface="Times New Roman"/>
                          <a:cs typeface="Times New Roman"/>
                          <a:sym typeface="Times New Roman"/>
                        </a:rPr>
                        <a:t>:</a:t>
                      </a:r>
                      <a:endParaRPr/>
                    </a:p>
                  </a:txBody>
                  <a:tcPr marT="0" marB="0" marR="68575" marL="68575" anchor="ct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Labmentix </a:t>
                      </a:r>
                      <a:endParaRPr sz="1800">
                        <a:solidFill>
                          <a:schemeClr val="dk1"/>
                        </a:solidFill>
                        <a:latin typeface="Calibri"/>
                        <a:ea typeface="Calibri"/>
                        <a:cs typeface="Calibri"/>
                        <a:sym typeface="Calibri"/>
                      </a:endParaRPr>
                    </a:p>
                  </a:txBody>
                  <a:tcPr marT="0" marB="0" marR="68575" marL="68575" anchor="ctr"/>
                </a:tc>
              </a:tr>
              <a:tr h="425450">
                <a:tc>
                  <a:txBody>
                    <a:bodyPr/>
                    <a:lstStyle/>
                    <a:p>
                      <a:pPr indent="0" lvl="0" marL="0" marR="0" rtl="0" algn="l">
                        <a:lnSpc>
                          <a:spcPct val="115000"/>
                        </a:lnSpc>
                        <a:spcBef>
                          <a:spcPts val="0"/>
                        </a:spcBef>
                        <a:spcAft>
                          <a:spcPts val="0"/>
                        </a:spcAft>
                        <a:buClr>
                          <a:srgbClr val="000000"/>
                        </a:buClr>
                        <a:buSzPts val="1800"/>
                        <a:buFont typeface="Times New Roman"/>
                        <a:buNone/>
                      </a:pPr>
                      <a:r>
                        <a:rPr b="1" i="0" lang="en-US" sz="1800" u="none">
                          <a:solidFill>
                            <a:srgbClr val="000000"/>
                          </a:solidFill>
                          <a:latin typeface="Times New Roman"/>
                          <a:ea typeface="Times New Roman"/>
                          <a:cs typeface="Times New Roman"/>
                          <a:sym typeface="Times New Roman"/>
                        </a:rPr>
                        <a:t>ORGANIZATION ADDRESS</a:t>
                      </a:r>
                      <a:endParaRPr/>
                    </a:p>
                  </a:txBody>
                  <a:tcPr marT="0" marB="0" marR="68575" marL="68575" anchor="ctr"/>
                </a:tc>
                <a:tc>
                  <a:txBody>
                    <a:bodyPr/>
                    <a:lstStyle/>
                    <a:p>
                      <a:pPr indent="0" lvl="0" marL="0" marR="0" rtl="0" algn="ctr">
                        <a:lnSpc>
                          <a:spcPct val="115000"/>
                        </a:lnSpc>
                        <a:spcBef>
                          <a:spcPts val="0"/>
                        </a:spcBef>
                        <a:spcAft>
                          <a:spcPts val="0"/>
                        </a:spcAft>
                        <a:buClr>
                          <a:srgbClr val="000000"/>
                        </a:buClr>
                        <a:buSzPts val="1800"/>
                        <a:buFont typeface="Times New Roman"/>
                        <a:buNone/>
                      </a:pPr>
                      <a:r>
                        <a:rPr b="1" i="0" lang="en-US" sz="1800" u="none">
                          <a:solidFill>
                            <a:srgbClr val="000000"/>
                          </a:solidFill>
                          <a:latin typeface="Times New Roman"/>
                          <a:ea typeface="Times New Roman"/>
                          <a:cs typeface="Times New Roman"/>
                          <a:sym typeface="Times New Roman"/>
                        </a:rPr>
                        <a:t>:</a:t>
                      </a:r>
                      <a:endParaRPr/>
                    </a:p>
                  </a:txBody>
                  <a:tcPr marT="0" marB="0" marR="68575" marL="68575" anchor="ctr"/>
                </a:tc>
                <a:tc>
                  <a:txBody>
                    <a:bodyPr/>
                    <a:lstStyle/>
                    <a:p>
                      <a:pPr indent="0" lvl="0" marL="0" marR="0" rtl="0" algn="l">
                        <a:spcBef>
                          <a:spcPts val="0"/>
                        </a:spcBef>
                        <a:spcAft>
                          <a:spcPts val="0"/>
                        </a:spcAft>
                        <a:buNone/>
                      </a:pPr>
                      <a:r>
                        <a:rPr lang="en-US" sz="1200">
                          <a:solidFill>
                            <a:schemeClr val="dk1"/>
                          </a:solidFill>
                          <a:highlight>
                            <a:schemeClr val="lt1"/>
                          </a:highlight>
                        </a:rPr>
                        <a:t>2nd Floor, UMIYA Emporium, Opposite to Nexus Mall, Tavarekere, Kaveri Layout, Koramangala, Bengaluru, Karnataka 560030</a:t>
                      </a:r>
                      <a:r>
                        <a:rPr lang="en-US" sz="1100">
                          <a:solidFill>
                            <a:schemeClr val="dk1"/>
                          </a:solidFill>
                          <a:highlight>
                            <a:schemeClr val="lt1"/>
                          </a:highlight>
                        </a:rPr>
                        <a:t> </a:t>
                      </a:r>
                      <a:endParaRPr sz="1800">
                        <a:solidFill>
                          <a:schemeClr val="dk1"/>
                        </a:solidFill>
                        <a:highlight>
                          <a:schemeClr val="lt1"/>
                        </a:highlight>
                        <a:latin typeface="Calibri"/>
                        <a:ea typeface="Calibri"/>
                        <a:cs typeface="Calibri"/>
                        <a:sym typeface="Calibri"/>
                      </a:endParaRPr>
                    </a:p>
                  </a:txBody>
                  <a:tcPr marT="0" marB="0" marR="68575" marL="68575" anchor="ctr"/>
                </a:tc>
              </a:tr>
              <a:tr h="427025">
                <a:tc>
                  <a:txBody>
                    <a:bodyPr/>
                    <a:lstStyle/>
                    <a:p>
                      <a:pPr indent="0" lvl="0" marL="0" marR="0" rtl="0" algn="l">
                        <a:lnSpc>
                          <a:spcPct val="115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ONLINE / OFFLINE</a:t>
                      </a:r>
                      <a:endParaRPr/>
                    </a:p>
                  </a:txBody>
                  <a:tcPr marT="0" marB="0" marR="68575" marL="68575" anchor="ctr"/>
                </a:tc>
                <a:tc>
                  <a:txBody>
                    <a:bodyPr/>
                    <a:lstStyle/>
                    <a:p>
                      <a:pPr indent="0" lvl="0" marL="0" marR="0" rtl="0" algn="ctr">
                        <a:lnSpc>
                          <a:spcPct val="115000"/>
                        </a:lnSpc>
                        <a:spcBef>
                          <a:spcPts val="0"/>
                        </a:spcBef>
                        <a:spcAft>
                          <a:spcPts val="0"/>
                        </a:spcAft>
                        <a:buClr>
                          <a:schemeClr val="dk1"/>
                        </a:buClr>
                        <a:buSzPts val="1800"/>
                        <a:buFont typeface="Times New Roman"/>
                        <a:buNone/>
                      </a:pPr>
                      <a:r>
                        <a:rPr b="1" i="0" lang="en-US" sz="1800" u="none">
                          <a:solidFill>
                            <a:schemeClr val="dk1"/>
                          </a:solidFill>
                          <a:latin typeface="Times New Roman"/>
                          <a:ea typeface="Times New Roman"/>
                          <a:cs typeface="Times New Roman"/>
                          <a:sym typeface="Times New Roman"/>
                        </a:rPr>
                        <a:t>:</a:t>
                      </a:r>
                      <a:endParaRPr/>
                    </a:p>
                  </a:txBody>
                  <a:tcPr marT="0" marB="0" marR="68575" marL="68575" anchor="ct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Online</a:t>
                      </a:r>
                      <a:endParaRPr sz="1800">
                        <a:solidFill>
                          <a:schemeClr val="dk1"/>
                        </a:solidFill>
                        <a:latin typeface="Calibri"/>
                        <a:ea typeface="Calibri"/>
                        <a:cs typeface="Calibri"/>
                        <a:sym typeface="Calibri"/>
                      </a:endParaRPr>
                    </a:p>
                  </a:txBody>
                  <a:tcPr marT="0" marB="0" marR="68575" marL="68575" anchor="ctr"/>
                </a:tc>
              </a:tr>
              <a:tr h="412750">
                <a:tc>
                  <a:txBody>
                    <a:bodyPr/>
                    <a:lstStyle/>
                    <a:p>
                      <a:pPr indent="0" lvl="0" marL="0" marR="0" rtl="0" algn="l">
                        <a:lnSpc>
                          <a:spcPct val="115000"/>
                        </a:lnSpc>
                        <a:spcBef>
                          <a:spcPts val="0"/>
                        </a:spcBef>
                        <a:spcAft>
                          <a:spcPts val="0"/>
                        </a:spcAft>
                        <a:buClr>
                          <a:srgbClr val="000000"/>
                        </a:buClr>
                        <a:buSzPts val="1800"/>
                        <a:buFont typeface="Times New Roman"/>
                        <a:buNone/>
                      </a:pPr>
                      <a:r>
                        <a:rPr b="1" i="0" lang="en-US" sz="1800" u="none">
                          <a:solidFill>
                            <a:srgbClr val="000000"/>
                          </a:solidFill>
                          <a:latin typeface="Times New Roman"/>
                          <a:ea typeface="Times New Roman"/>
                          <a:cs typeface="Times New Roman"/>
                          <a:sym typeface="Times New Roman"/>
                        </a:rPr>
                        <a:t>TRAINER NAME</a:t>
                      </a:r>
                      <a:endParaRPr/>
                    </a:p>
                  </a:txBody>
                  <a:tcPr marT="0" marB="0" marR="68575" marL="68575" anchor="ctr"/>
                </a:tc>
                <a:tc>
                  <a:txBody>
                    <a:bodyPr/>
                    <a:lstStyle/>
                    <a:p>
                      <a:pPr indent="0" lvl="0" marL="0" marR="0" rtl="0" algn="ctr">
                        <a:lnSpc>
                          <a:spcPct val="115000"/>
                        </a:lnSpc>
                        <a:spcBef>
                          <a:spcPts val="0"/>
                        </a:spcBef>
                        <a:spcAft>
                          <a:spcPts val="0"/>
                        </a:spcAft>
                        <a:buClr>
                          <a:srgbClr val="000000"/>
                        </a:buClr>
                        <a:buSzPts val="1800"/>
                        <a:buFont typeface="Times New Roman"/>
                        <a:buNone/>
                      </a:pPr>
                      <a:r>
                        <a:rPr b="1" i="0" lang="en-US" sz="1800" u="none">
                          <a:solidFill>
                            <a:srgbClr val="000000"/>
                          </a:solidFill>
                          <a:latin typeface="Times New Roman"/>
                          <a:ea typeface="Times New Roman"/>
                          <a:cs typeface="Times New Roman"/>
                          <a:sym typeface="Times New Roman"/>
                        </a:rPr>
                        <a:t>:</a:t>
                      </a:r>
                      <a:endParaRPr/>
                    </a:p>
                  </a:txBody>
                  <a:tcPr marT="0" marB="0" marR="68575" marL="68575" anchor="ct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Vipul Sonawanae</a:t>
                      </a:r>
                      <a:endParaRPr sz="1800">
                        <a:solidFill>
                          <a:schemeClr val="dk1"/>
                        </a:solidFill>
                        <a:latin typeface="Calibri"/>
                        <a:ea typeface="Calibri"/>
                        <a:cs typeface="Calibri"/>
                        <a:sym typeface="Calibri"/>
                      </a:endParaRPr>
                    </a:p>
                  </a:txBody>
                  <a:tcPr marT="0" marB="0" marR="68575" marL="68575" anchor="ctr"/>
                </a:tc>
              </a:tr>
              <a:tr h="414325">
                <a:tc>
                  <a:txBody>
                    <a:bodyPr/>
                    <a:lstStyle/>
                    <a:p>
                      <a:pPr indent="0" lvl="0" marL="0" marR="0" rtl="0" algn="l">
                        <a:lnSpc>
                          <a:spcPct val="115000"/>
                        </a:lnSpc>
                        <a:spcBef>
                          <a:spcPts val="0"/>
                        </a:spcBef>
                        <a:spcAft>
                          <a:spcPts val="0"/>
                        </a:spcAft>
                        <a:buClr>
                          <a:srgbClr val="000000"/>
                        </a:buClr>
                        <a:buSzPts val="1800"/>
                        <a:buFont typeface="Times New Roman"/>
                        <a:buNone/>
                      </a:pPr>
                      <a:r>
                        <a:rPr b="1" i="0" lang="en-US" sz="1800" u="none">
                          <a:solidFill>
                            <a:srgbClr val="000000"/>
                          </a:solidFill>
                          <a:latin typeface="Times New Roman"/>
                          <a:ea typeface="Times New Roman"/>
                          <a:cs typeface="Times New Roman"/>
                          <a:sym typeface="Times New Roman"/>
                        </a:rPr>
                        <a:t>TRAINER’S CONTACT NO.</a:t>
                      </a:r>
                      <a:endParaRPr/>
                    </a:p>
                  </a:txBody>
                  <a:tcPr marT="0" marB="0" marR="68575" marL="68575" anchor="ctr"/>
                </a:tc>
                <a:tc>
                  <a:txBody>
                    <a:bodyPr/>
                    <a:lstStyle/>
                    <a:p>
                      <a:pPr indent="0" lvl="0" marL="0" marR="0" rtl="0" algn="ctr">
                        <a:lnSpc>
                          <a:spcPct val="115000"/>
                        </a:lnSpc>
                        <a:spcBef>
                          <a:spcPts val="0"/>
                        </a:spcBef>
                        <a:spcAft>
                          <a:spcPts val="0"/>
                        </a:spcAft>
                        <a:buClr>
                          <a:srgbClr val="000000"/>
                        </a:buClr>
                        <a:buSzPts val="1800"/>
                        <a:buFont typeface="Times New Roman"/>
                        <a:buNone/>
                      </a:pPr>
                      <a:r>
                        <a:rPr b="1" i="0" lang="en-US" sz="1800" u="none">
                          <a:solidFill>
                            <a:srgbClr val="000000"/>
                          </a:solidFill>
                          <a:latin typeface="Times New Roman"/>
                          <a:ea typeface="Times New Roman"/>
                          <a:cs typeface="Times New Roman"/>
                          <a:sym typeface="Times New Roman"/>
                        </a:rPr>
                        <a:t>:</a:t>
                      </a:r>
                      <a:endParaRPr/>
                    </a:p>
                  </a:txBody>
                  <a:tcPr marT="0" marB="0" marR="68575" marL="68575" anchor="ct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a:txBody>
                  <a:tcPr marT="0" marB="0" marR="68575" marL="68575" anchor="ctr"/>
                </a:tc>
              </a:tr>
              <a:tr h="425450">
                <a:tc>
                  <a:txBody>
                    <a:bodyPr/>
                    <a:lstStyle/>
                    <a:p>
                      <a:pPr indent="0" lvl="0" marL="0" marR="0" rtl="0" algn="l">
                        <a:lnSpc>
                          <a:spcPct val="115000"/>
                        </a:lnSpc>
                        <a:spcBef>
                          <a:spcPts val="0"/>
                        </a:spcBef>
                        <a:spcAft>
                          <a:spcPts val="0"/>
                        </a:spcAft>
                        <a:buClr>
                          <a:srgbClr val="000000"/>
                        </a:buClr>
                        <a:buSzPts val="1800"/>
                        <a:buFont typeface="Times New Roman"/>
                        <a:buNone/>
                      </a:pPr>
                      <a:r>
                        <a:rPr b="1" i="0" lang="en-US" sz="1800" u="none">
                          <a:solidFill>
                            <a:srgbClr val="000000"/>
                          </a:solidFill>
                          <a:latin typeface="Times New Roman"/>
                          <a:ea typeface="Times New Roman"/>
                          <a:cs typeface="Times New Roman"/>
                          <a:sym typeface="Times New Roman"/>
                        </a:rPr>
                        <a:t>INTERNSHIP PERIOD</a:t>
                      </a:r>
                      <a:endParaRPr/>
                    </a:p>
                  </a:txBody>
                  <a:tcPr marT="0" marB="0" marR="68575" marL="68575" anchor="ctr"/>
                </a:tc>
                <a:tc>
                  <a:txBody>
                    <a:bodyPr/>
                    <a:lstStyle/>
                    <a:p>
                      <a:pPr indent="0" lvl="0" marL="0" marR="0" rtl="0" algn="ctr">
                        <a:lnSpc>
                          <a:spcPct val="115000"/>
                        </a:lnSpc>
                        <a:spcBef>
                          <a:spcPts val="0"/>
                        </a:spcBef>
                        <a:spcAft>
                          <a:spcPts val="0"/>
                        </a:spcAft>
                        <a:buClr>
                          <a:srgbClr val="000000"/>
                        </a:buClr>
                        <a:buSzPts val="1800"/>
                        <a:buFont typeface="Times New Roman"/>
                        <a:buNone/>
                      </a:pPr>
                      <a:r>
                        <a:rPr b="1" i="0" lang="en-US" sz="1800" u="none">
                          <a:solidFill>
                            <a:srgbClr val="000000"/>
                          </a:solidFill>
                          <a:latin typeface="Times New Roman"/>
                          <a:ea typeface="Times New Roman"/>
                          <a:cs typeface="Times New Roman"/>
                          <a:sym typeface="Times New Roman"/>
                        </a:rPr>
                        <a:t>:</a:t>
                      </a:r>
                      <a:endParaRPr/>
                    </a:p>
                  </a:txBody>
                  <a:tcPr marT="0" marB="0" marR="68575" marL="68575" anchor="ctr"/>
                </a:tc>
                <a:tc>
                  <a:txBody>
                    <a:bodyPr/>
                    <a:lstStyle/>
                    <a:p>
                      <a:pPr indent="0" lvl="0" marL="0" marR="0" rtl="0" algn="l">
                        <a:lnSpc>
                          <a:spcPct val="115000"/>
                        </a:lnSpc>
                        <a:spcBef>
                          <a:spcPts val="0"/>
                        </a:spcBef>
                        <a:spcAft>
                          <a:spcPts val="0"/>
                        </a:spcAft>
                        <a:buClr>
                          <a:srgbClr val="000000"/>
                        </a:buClr>
                        <a:buSzPts val="1800"/>
                        <a:buFont typeface="Times New Roman"/>
                        <a:buNone/>
                      </a:pPr>
                      <a:r>
                        <a:rPr b="1" i="0" lang="en-US" sz="1800" u="none">
                          <a:solidFill>
                            <a:srgbClr val="000000"/>
                          </a:solidFill>
                          <a:latin typeface="Times New Roman"/>
                          <a:ea typeface="Times New Roman"/>
                          <a:cs typeface="Times New Roman"/>
                          <a:sym typeface="Times New Roman"/>
                        </a:rPr>
                        <a:t>FROM : </a:t>
                      </a:r>
                      <a:r>
                        <a:rPr b="1" lang="en-US" sz="1800">
                          <a:latin typeface="Times New Roman"/>
                          <a:ea typeface="Times New Roman"/>
                          <a:cs typeface="Times New Roman"/>
                          <a:sym typeface="Times New Roman"/>
                        </a:rPr>
                        <a:t>15.12.2025 </a:t>
                      </a:r>
                      <a:r>
                        <a:rPr b="1" i="0" lang="en-US" sz="1800" u="none">
                          <a:solidFill>
                            <a:srgbClr val="000000"/>
                          </a:solidFill>
                          <a:latin typeface="Times New Roman"/>
                          <a:ea typeface="Times New Roman"/>
                          <a:cs typeface="Times New Roman"/>
                          <a:sym typeface="Times New Roman"/>
                        </a:rPr>
                        <a:t>TO: </a:t>
                      </a:r>
                      <a:r>
                        <a:rPr b="1" lang="en-US" sz="1800">
                          <a:latin typeface="Times New Roman"/>
                          <a:ea typeface="Times New Roman"/>
                          <a:cs typeface="Times New Roman"/>
                          <a:sym typeface="Times New Roman"/>
                        </a:rPr>
                        <a:t>01.02.2026</a:t>
                      </a:r>
                      <a:r>
                        <a:rPr b="1" i="0" lang="en-US" sz="1800" u="none">
                          <a:solidFill>
                            <a:srgbClr val="000000"/>
                          </a:solidFill>
                          <a:latin typeface="Times New Roman"/>
                          <a:ea typeface="Times New Roman"/>
                          <a:cs typeface="Times New Roman"/>
                          <a:sym typeface="Times New Roman"/>
                        </a:rPr>
                        <a:t> </a:t>
                      </a:r>
                      <a:endParaRPr/>
                    </a:p>
                  </a:txBody>
                  <a:tcPr marT="0" marB="0" marR="68575" marL="68575" anchor="ctr"/>
                </a:tc>
              </a:tr>
              <a:tr h="427025">
                <a:tc>
                  <a:txBody>
                    <a:bodyPr/>
                    <a:lstStyle/>
                    <a:p>
                      <a:pPr indent="0" lvl="0" marL="0" marR="0" rtl="0" algn="l">
                        <a:lnSpc>
                          <a:spcPct val="115000"/>
                        </a:lnSpc>
                        <a:spcBef>
                          <a:spcPts val="0"/>
                        </a:spcBef>
                        <a:spcAft>
                          <a:spcPts val="0"/>
                        </a:spcAft>
                        <a:buClr>
                          <a:srgbClr val="000000"/>
                        </a:buClr>
                        <a:buSzPts val="1800"/>
                        <a:buFont typeface="Times New Roman"/>
                        <a:buNone/>
                      </a:pPr>
                      <a:r>
                        <a:rPr b="1" i="0" lang="en-US" sz="1800" u="none">
                          <a:solidFill>
                            <a:srgbClr val="000000"/>
                          </a:solidFill>
                          <a:latin typeface="Times New Roman"/>
                          <a:ea typeface="Times New Roman"/>
                          <a:cs typeface="Times New Roman"/>
                          <a:sym typeface="Times New Roman"/>
                        </a:rPr>
                        <a:t>INTERNSHIP DURATION</a:t>
                      </a:r>
                      <a:endParaRPr/>
                    </a:p>
                  </a:txBody>
                  <a:tcPr marT="0" marB="0" marR="68575" marL="68575" anchor="ctr"/>
                </a:tc>
                <a:tc>
                  <a:txBody>
                    <a:bodyPr/>
                    <a:lstStyle/>
                    <a:p>
                      <a:pPr indent="0" lvl="0" marL="0" marR="0" rtl="0" algn="ctr">
                        <a:lnSpc>
                          <a:spcPct val="115000"/>
                        </a:lnSpc>
                        <a:spcBef>
                          <a:spcPts val="0"/>
                        </a:spcBef>
                        <a:spcAft>
                          <a:spcPts val="0"/>
                        </a:spcAft>
                        <a:buClr>
                          <a:srgbClr val="000000"/>
                        </a:buClr>
                        <a:buSzPts val="1800"/>
                        <a:buFont typeface="Times New Roman"/>
                        <a:buNone/>
                      </a:pPr>
                      <a:r>
                        <a:rPr b="1" i="0" lang="en-US" sz="1800" u="none">
                          <a:solidFill>
                            <a:srgbClr val="000000"/>
                          </a:solidFill>
                          <a:latin typeface="Times New Roman"/>
                          <a:ea typeface="Times New Roman"/>
                          <a:cs typeface="Times New Roman"/>
                          <a:sym typeface="Times New Roman"/>
                        </a:rPr>
                        <a:t>:</a:t>
                      </a:r>
                      <a:endParaRPr/>
                    </a:p>
                  </a:txBody>
                  <a:tcPr marT="0" marB="0" marR="68575" marL="68575" anchor="ctr"/>
                </a:tc>
                <a:tc>
                  <a:txBody>
                    <a:bodyPr/>
                    <a:lstStyle/>
                    <a:p>
                      <a:pPr indent="0" lvl="0" marL="0" marR="0" rtl="0" algn="l">
                        <a:lnSpc>
                          <a:spcPct val="115000"/>
                        </a:lnSpc>
                        <a:spcBef>
                          <a:spcPts val="0"/>
                        </a:spcBef>
                        <a:spcAft>
                          <a:spcPts val="0"/>
                        </a:spcAft>
                        <a:buClr>
                          <a:srgbClr val="000000"/>
                        </a:buClr>
                        <a:buSzPts val="1800"/>
                        <a:buFont typeface="Times New Roman"/>
                        <a:buNone/>
                      </a:pPr>
                      <a:r>
                        <a:rPr b="1" lang="en-US" sz="1800">
                          <a:latin typeface="Times New Roman"/>
                          <a:ea typeface="Times New Roman"/>
                          <a:cs typeface="Times New Roman"/>
                          <a:sym typeface="Times New Roman"/>
                        </a:rPr>
                        <a:t>45</a:t>
                      </a:r>
                      <a:r>
                        <a:rPr b="0" i="0" lang="en-US" sz="1800" u="none">
                          <a:solidFill>
                            <a:schemeClr val="dk1"/>
                          </a:solidFill>
                          <a:latin typeface="Times New Roman"/>
                          <a:ea typeface="Times New Roman"/>
                          <a:cs typeface="Times New Roman"/>
                          <a:sym typeface="Times New Roman"/>
                        </a:rPr>
                        <a:t> </a:t>
                      </a:r>
                      <a:r>
                        <a:rPr b="1" i="0" lang="en-US" sz="1800" u="none">
                          <a:solidFill>
                            <a:srgbClr val="000000"/>
                          </a:solidFill>
                          <a:latin typeface="Times New Roman"/>
                          <a:ea typeface="Times New Roman"/>
                          <a:cs typeface="Times New Roman"/>
                          <a:sym typeface="Times New Roman"/>
                        </a:rPr>
                        <a:t>DAYS</a:t>
                      </a:r>
                      <a:endParaRPr/>
                    </a:p>
                  </a:txBody>
                  <a:tcPr marT="0" marB="0" marR="68575" marL="68575" anchor="ct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6"/>
          <p:cNvSpPr txBox="1"/>
          <p:nvPr>
            <p:ph type="title"/>
          </p:nvPr>
        </p:nvSpPr>
        <p:spPr>
          <a:xfrm>
            <a:off x="457200" y="228600"/>
            <a:ext cx="80010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4000"/>
              <a:buFont typeface="Calibri"/>
              <a:buNone/>
            </a:pPr>
            <a:r>
              <a:rPr b="0" i="0" lang="en-US" sz="4000" u="none">
                <a:solidFill>
                  <a:schemeClr val="lt1"/>
                </a:solidFill>
                <a:latin typeface="Calibri"/>
                <a:ea typeface="Calibri"/>
                <a:cs typeface="Calibri"/>
                <a:sym typeface="Calibri"/>
              </a:rPr>
              <a:t>About the Training</a:t>
            </a:r>
            <a:endParaRPr/>
          </a:p>
        </p:txBody>
      </p:sp>
      <p:sp>
        <p:nvSpPr>
          <p:cNvPr id="119" name="Google Shape;119;p16"/>
          <p:cNvSpPr txBox="1"/>
          <p:nvPr>
            <p:ph idx="1" type="body"/>
          </p:nvPr>
        </p:nvSpPr>
        <p:spPr>
          <a:xfrm>
            <a:off x="616425" y="1860176"/>
            <a:ext cx="7923000" cy="4830900"/>
          </a:xfrm>
          <a:prstGeom prst="rect">
            <a:avLst/>
          </a:prstGeom>
          <a:noFill/>
          <a:ln>
            <a:noFill/>
          </a:ln>
        </p:spPr>
        <p:txBody>
          <a:bodyPr anchorCtr="0" anchor="t" bIns="45700" lIns="91425" spcFirstLastPara="1" rIns="91425" wrap="square" tIns="45700">
            <a:noAutofit/>
          </a:bodyPr>
          <a:lstStyle/>
          <a:p>
            <a:pPr indent="457200" lvl="0" marL="0" marR="0" rtl="0" algn="just">
              <a:lnSpc>
                <a:spcPct val="150000"/>
              </a:lnSpc>
              <a:spcBef>
                <a:spcPts val="0"/>
              </a:spcBef>
              <a:spcAft>
                <a:spcPts val="0"/>
              </a:spcAft>
              <a:buClr>
                <a:schemeClr val="dk1"/>
              </a:buClr>
              <a:buSzPts val="3200"/>
              <a:buFont typeface="Arial"/>
              <a:buNone/>
            </a:pPr>
            <a:r>
              <a:rPr lang="en-US" sz="1600">
                <a:highlight>
                  <a:schemeClr val="lt1"/>
                </a:highlight>
                <a:latin typeface="Times New Roman"/>
                <a:ea typeface="Times New Roman"/>
                <a:cs typeface="Times New Roman"/>
                <a:sym typeface="Times New Roman"/>
              </a:rPr>
              <a:t>During the 45-day online internship at </a:t>
            </a:r>
            <a:r>
              <a:rPr i="1" lang="en-US" sz="1600">
                <a:highlight>
                  <a:schemeClr val="lt1"/>
                </a:highlight>
                <a:latin typeface="Times New Roman"/>
                <a:ea typeface="Times New Roman"/>
                <a:cs typeface="Times New Roman"/>
                <a:sym typeface="Times New Roman"/>
              </a:rPr>
              <a:t>LabMentix</a:t>
            </a:r>
            <a:r>
              <a:rPr lang="en-US" sz="1600">
                <a:highlight>
                  <a:schemeClr val="lt1"/>
                </a:highlight>
                <a:latin typeface="Times New Roman"/>
                <a:ea typeface="Times New Roman"/>
                <a:cs typeface="Times New Roman"/>
                <a:sym typeface="Times New Roman"/>
              </a:rPr>
              <a:t>, I gained practical exposure to data science concepts and basic machine learning techniques. The training focused on data preprocessing, Exploratory Data Analysis (EDA), and data visualization using Python libraries such as Pandas, NumPy, Matplotlib, and Seaborn. I worked on real-world datasets including streaming platforms, mental health surveys, and e-commerce transactions to understand data patterns and trends. Additionally, I applied basic machine learning concepts such as RFM analysis and K-Means clustering for customer segmentation. This internship helped in enhancing my analytical thinking, problem-solving skills, and ability to derive meaningful insights to support data-driven decision-making.</a:t>
            </a:r>
            <a:r>
              <a:rPr lang="en-US" sz="1500">
                <a:highlight>
                  <a:schemeClr val="lt1"/>
                </a:highlight>
                <a:latin typeface="Times New Roman"/>
                <a:ea typeface="Times New Roman"/>
                <a:cs typeface="Times New Roman"/>
                <a:sym typeface="Times New Roman"/>
              </a:rPr>
              <a:t> </a:t>
            </a:r>
            <a:endParaRPr sz="2000">
              <a:highlight>
                <a:schemeClr val="lt1"/>
              </a:highlight>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7"/>
          <p:cNvSpPr txBox="1"/>
          <p:nvPr>
            <p:ph type="title"/>
          </p:nvPr>
        </p:nvSpPr>
        <p:spPr>
          <a:xfrm>
            <a:off x="457200" y="228600"/>
            <a:ext cx="8001000" cy="685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Calibri"/>
              <a:buNone/>
            </a:pPr>
            <a:r>
              <a:rPr b="0" i="0" lang="en-US" sz="4400" u="none">
                <a:solidFill>
                  <a:schemeClr val="lt1"/>
                </a:solidFill>
                <a:latin typeface="Calibri"/>
                <a:ea typeface="Calibri"/>
                <a:cs typeface="Calibri"/>
                <a:sym typeface="Calibri"/>
              </a:rPr>
              <a:t>Abstract / Executive Summary</a:t>
            </a:r>
            <a:endParaRPr/>
          </a:p>
        </p:txBody>
      </p:sp>
      <p:sp>
        <p:nvSpPr>
          <p:cNvPr id="125" name="Google Shape;125;p17"/>
          <p:cNvSpPr txBox="1"/>
          <p:nvPr>
            <p:ph idx="1" type="body"/>
          </p:nvPr>
        </p:nvSpPr>
        <p:spPr>
          <a:xfrm>
            <a:off x="538500" y="1295400"/>
            <a:ext cx="8001000" cy="48309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300"/>
              </a:spcBef>
              <a:spcAft>
                <a:spcPts val="0"/>
              </a:spcAft>
              <a:buClr>
                <a:schemeClr val="dk1"/>
              </a:buClr>
              <a:buSzPts val="1100"/>
              <a:buFont typeface="Arial"/>
              <a:buNone/>
            </a:pPr>
            <a:r>
              <a:rPr lang="en-US" sz="1600">
                <a:highlight>
                  <a:schemeClr val="lt1"/>
                </a:highlight>
                <a:latin typeface="Times New Roman"/>
                <a:ea typeface="Times New Roman"/>
                <a:cs typeface="Times New Roman"/>
                <a:sym typeface="Times New Roman"/>
              </a:rPr>
              <a:t>This internship focused on applying data science techniques to analyze real-world datasets and derive meaningful insights for decision-making. The work involved data preprocessing, Exploratory Data Analysis (EDA), and data visualization using Python-based tools. Multiple projects were carried out across different domains, including content analysis of streaming platforms, mental health survey analysis, and e-commerce customer behavior analysis.</a:t>
            </a:r>
            <a:endParaRPr sz="1600">
              <a:highlight>
                <a:schemeClr val="lt1"/>
              </a:highlight>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lang="en-US" sz="1600">
                <a:highlight>
                  <a:schemeClr val="lt1"/>
                </a:highlight>
                <a:latin typeface="Times New Roman"/>
                <a:ea typeface="Times New Roman"/>
                <a:cs typeface="Times New Roman"/>
                <a:sym typeface="Times New Roman"/>
              </a:rPr>
              <a:t>The e-commerce project further incorporated basic machine learning techniques such as RFM (Recency, Frequency, Monetary) analysis and K-Means clustering to segment customers based on their purchasing patterns. The results highlighted that a small group of customers contributes significantly to overall revenue, while many customers show low engagement or are at risk of churn.</a:t>
            </a:r>
            <a:endParaRPr sz="1600">
              <a:highlight>
                <a:schemeClr val="lt1"/>
              </a:highlight>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lang="en-US" sz="1600">
                <a:highlight>
                  <a:schemeClr val="lt1"/>
                </a:highlight>
                <a:latin typeface="Times New Roman"/>
                <a:ea typeface="Times New Roman"/>
                <a:cs typeface="Times New Roman"/>
                <a:sym typeface="Times New Roman"/>
              </a:rPr>
              <a:t>Overall, the internship demonstrated how data-driven approaches can be used to understand patterns, support business strategies, and improve decision-making. It also helped in developing practical skills in data handling, visualization, and analytical thinking through hands-on project experience.</a:t>
            </a:r>
            <a:endParaRPr sz="1600">
              <a:highlight>
                <a:schemeClr val="lt1"/>
              </a:highlight>
              <a:latin typeface="Times New Roman"/>
              <a:ea typeface="Times New Roman"/>
              <a:cs typeface="Times New Roman"/>
              <a:sym typeface="Times New Roman"/>
            </a:endParaRPr>
          </a:p>
          <a:p>
            <a:pPr indent="-139700" lvl="0" marL="342900" marR="0" rtl="0" algn="just">
              <a:spcBef>
                <a:spcPts val="1200"/>
              </a:spcBef>
              <a:spcAft>
                <a:spcPts val="0"/>
              </a:spcAft>
              <a:buClr>
                <a:schemeClr val="dk1"/>
              </a:buClr>
              <a:buSzPts val="3200"/>
              <a:buFont typeface="Arial"/>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8"/>
          <p:cNvSpPr txBox="1"/>
          <p:nvPr>
            <p:ph type="title"/>
          </p:nvPr>
        </p:nvSpPr>
        <p:spPr>
          <a:xfrm>
            <a:off x="457200" y="228600"/>
            <a:ext cx="8001000" cy="685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Calibri"/>
              <a:buNone/>
            </a:pPr>
            <a:r>
              <a:rPr b="0" i="0" lang="en-US" sz="4400" u="none">
                <a:solidFill>
                  <a:schemeClr val="lt1"/>
                </a:solidFill>
                <a:latin typeface="Calibri"/>
                <a:ea typeface="Calibri"/>
                <a:cs typeface="Calibri"/>
                <a:sym typeface="Calibri"/>
              </a:rPr>
              <a:t>Introduction</a:t>
            </a:r>
            <a:endParaRPr/>
          </a:p>
        </p:txBody>
      </p:sp>
      <p:sp>
        <p:nvSpPr>
          <p:cNvPr id="131" name="Google Shape;131;p18"/>
          <p:cNvSpPr txBox="1"/>
          <p:nvPr>
            <p:ph idx="1" type="body"/>
          </p:nvPr>
        </p:nvSpPr>
        <p:spPr>
          <a:xfrm>
            <a:off x="538500" y="1408355"/>
            <a:ext cx="8001000" cy="48309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0"/>
              </a:spcAft>
              <a:buClr>
                <a:schemeClr val="dk1"/>
              </a:buClr>
              <a:buSzPts val="1100"/>
              <a:buFont typeface="Arial"/>
              <a:buNone/>
            </a:pPr>
            <a:r>
              <a:rPr lang="en-US" sz="1600">
                <a:latin typeface="Times New Roman"/>
                <a:ea typeface="Times New Roman"/>
                <a:cs typeface="Times New Roman"/>
                <a:sym typeface="Times New Roman"/>
              </a:rPr>
              <a:t>The rapid growth of data in today’s digital world has made data science an essential tool for extracting meaningful insights and supporting decision-making. This project focuses on applying data science techniques such as data preprocessing, Exploratory Data Analysis (EDA), and basic machine learning to analyze real-world datasets from different domains.</a:t>
            </a:r>
            <a:endParaRPr sz="1600">
              <a:latin typeface="Times New Roman"/>
              <a:ea typeface="Times New Roman"/>
              <a:cs typeface="Times New Roman"/>
              <a:sym typeface="Times New Roman"/>
            </a:endParaRPr>
          </a:p>
          <a:p>
            <a:pPr indent="457200" lvl="0" marL="0" rtl="0" algn="just">
              <a:lnSpc>
                <a:spcPct val="115000"/>
              </a:lnSpc>
              <a:spcBef>
                <a:spcPts val="1200"/>
              </a:spcBef>
              <a:spcAft>
                <a:spcPts val="0"/>
              </a:spcAft>
              <a:buClr>
                <a:schemeClr val="dk1"/>
              </a:buClr>
              <a:buSzPts val="1100"/>
              <a:buFont typeface="Arial"/>
              <a:buNone/>
            </a:pPr>
            <a:r>
              <a:rPr lang="en-US" sz="1600">
                <a:latin typeface="Times New Roman"/>
                <a:ea typeface="Times New Roman"/>
                <a:cs typeface="Times New Roman"/>
                <a:sym typeface="Times New Roman"/>
              </a:rPr>
              <a:t>The work includes analysis of streaming platform content, mental health survey data, and e-commerce transactions to understand patterns, trends, and user behavior. Various visualization techniques were used to represent data effectively, while customer segmentation using RFM analysis and K-Means clustering was applied to identify different customer groups.</a:t>
            </a:r>
            <a:endParaRPr sz="1600">
              <a:latin typeface="Times New Roman"/>
              <a:ea typeface="Times New Roman"/>
              <a:cs typeface="Times New Roman"/>
              <a:sym typeface="Times New Roman"/>
            </a:endParaRPr>
          </a:p>
          <a:p>
            <a:pPr indent="457200" lvl="0" marL="0" rtl="0" algn="just">
              <a:lnSpc>
                <a:spcPct val="115000"/>
              </a:lnSpc>
              <a:spcBef>
                <a:spcPts val="1200"/>
              </a:spcBef>
              <a:spcAft>
                <a:spcPts val="0"/>
              </a:spcAft>
              <a:buClr>
                <a:schemeClr val="dk1"/>
              </a:buClr>
              <a:buSzPts val="1100"/>
              <a:buFont typeface="Arial"/>
              <a:buNone/>
            </a:pPr>
            <a:r>
              <a:rPr lang="en-US" sz="1600">
                <a:latin typeface="Times New Roman"/>
                <a:ea typeface="Times New Roman"/>
                <a:cs typeface="Times New Roman"/>
                <a:sym typeface="Times New Roman"/>
              </a:rPr>
              <a:t>This project demonstrates how data-driven approaches can help organizations improve strategies, enhance user understanding, and make informed business decisions.</a:t>
            </a:r>
            <a:endParaRPr sz="1600">
              <a:latin typeface="Times New Roman"/>
              <a:ea typeface="Times New Roman"/>
              <a:cs typeface="Times New Roman"/>
              <a:sym typeface="Times New Roman"/>
            </a:endParaRPr>
          </a:p>
          <a:p>
            <a:pPr indent="-139700" lvl="0" marL="342900" marR="0" rtl="0" algn="just">
              <a:spcBef>
                <a:spcPts val="1200"/>
              </a:spcBef>
              <a:spcAft>
                <a:spcPts val="0"/>
              </a:spcAft>
              <a:buClr>
                <a:schemeClr val="dk1"/>
              </a:buClr>
              <a:buSzPts val="3200"/>
              <a:buFont typeface="Arial"/>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9"/>
          <p:cNvSpPr txBox="1"/>
          <p:nvPr>
            <p:ph type="title"/>
          </p:nvPr>
        </p:nvSpPr>
        <p:spPr>
          <a:xfrm>
            <a:off x="457200" y="228600"/>
            <a:ext cx="8001000" cy="685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Calibri"/>
              <a:buNone/>
            </a:pPr>
            <a:r>
              <a:rPr b="0" i="0" lang="en-US" sz="4400" u="none">
                <a:solidFill>
                  <a:schemeClr val="lt1"/>
                </a:solidFill>
                <a:latin typeface="Calibri"/>
                <a:ea typeface="Calibri"/>
                <a:cs typeface="Calibri"/>
                <a:sym typeface="Calibri"/>
              </a:rPr>
              <a:t>Objectives of the Internship</a:t>
            </a:r>
            <a:endParaRPr/>
          </a:p>
        </p:txBody>
      </p:sp>
      <p:sp>
        <p:nvSpPr>
          <p:cNvPr id="137" name="Google Shape;137;p19"/>
          <p:cNvSpPr txBox="1"/>
          <p:nvPr>
            <p:ph idx="1" type="body"/>
          </p:nvPr>
        </p:nvSpPr>
        <p:spPr>
          <a:xfrm>
            <a:off x="457200" y="1553584"/>
            <a:ext cx="8135400" cy="48309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0"/>
              </a:spcAft>
              <a:buClr>
                <a:schemeClr val="dk1"/>
              </a:buClr>
              <a:buSzPts val="1100"/>
              <a:buFont typeface="Arial"/>
              <a:buNone/>
            </a:pPr>
            <a:r>
              <a:rPr lang="en-US" sz="1600">
                <a:latin typeface="Times New Roman"/>
                <a:ea typeface="Times New Roman"/>
                <a:cs typeface="Times New Roman"/>
                <a:sym typeface="Times New Roman"/>
              </a:rPr>
              <a:t>The primary objective of the internship was to gain practical knowledge in data science by working with real-world datasets and applying analytical techniques. The internship focused on understanding data preprocessing, Exploratory Data Analysis (EDA), and data visualization to extract meaningful insights from data.</a:t>
            </a:r>
            <a:endParaRPr sz="1600">
              <a:latin typeface="Times New Roman"/>
              <a:ea typeface="Times New Roman"/>
              <a:cs typeface="Times New Roman"/>
              <a:sym typeface="Times New Roman"/>
            </a:endParaRPr>
          </a:p>
          <a:p>
            <a:pPr indent="457200" lvl="0" marL="0" rtl="0" algn="just">
              <a:lnSpc>
                <a:spcPct val="115000"/>
              </a:lnSpc>
              <a:spcBef>
                <a:spcPts val="1200"/>
              </a:spcBef>
              <a:spcAft>
                <a:spcPts val="0"/>
              </a:spcAft>
              <a:buClr>
                <a:schemeClr val="dk1"/>
              </a:buClr>
              <a:buSzPts val="1100"/>
              <a:buFont typeface="Arial"/>
              <a:buNone/>
            </a:pPr>
            <a:r>
              <a:rPr lang="en-US" sz="1600">
                <a:latin typeface="Times New Roman"/>
                <a:ea typeface="Times New Roman"/>
                <a:cs typeface="Times New Roman"/>
                <a:sym typeface="Times New Roman"/>
              </a:rPr>
              <a:t>Another key objective was to develop basic knowledge of machine learning concepts, particularly customer segmentation using RFM (Recency, Frequency, Monetary) analysis and K-Means clustering. The internship also aimed to enhance problem-solving skills, analytical thinking, and the ability to interpret data for supporting business decision-making.</a:t>
            </a:r>
            <a:endParaRPr sz="1600">
              <a:latin typeface="Times New Roman"/>
              <a:ea typeface="Times New Roman"/>
              <a:cs typeface="Times New Roman"/>
              <a:sym typeface="Times New Roman"/>
            </a:endParaRPr>
          </a:p>
          <a:p>
            <a:pPr indent="457200" lvl="0" marL="0" rtl="0" algn="just">
              <a:lnSpc>
                <a:spcPct val="115000"/>
              </a:lnSpc>
              <a:spcBef>
                <a:spcPts val="1200"/>
              </a:spcBef>
              <a:spcAft>
                <a:spcPts val="0"/>
              </a:spcAft>
              <a:buClr>
                <a:schemeClr val="dk1"/>
              </a:buClr>
              <a:buSzPts val="1100"/>
              <a:buFont typeface="Arial"/>
              <a:buNone/>
            </a:pPr>
            <a:r>
              <a:rPr lang="en-US" sz="1600">
                <a:latin typeface="Times New Roman"/>
                <a:ea typeface="Times New Roman"/>
                <a:cs typeface="Times New Roman"/>
                <a:sym typeface="Times New Roman"/>
              </a:rPr>
              <a:t>Overall, the internship was designed to provide hands-on experience in the complete data analysis workflow, from data cleaning to insight generation, and to bridge the gap between theoretical learning and practical application.</a:t>
            </a:r>
            <a:endParaRPr sz="1600">
              <a:latin typeface="Times New Roman"/>
              <a:ea typeface="Times New Roman"/>
              <a:cs typeface="Times New Roman"/>
              <a:sym typeface="Times New Roman"/>
            </a:endParaRPr>
          </a:p>
          <a:p>
            <a:pPr indent="-139700" lvl="0" marL="342900" marR="0" rtl="0" algn="just">
              <a:spcBef>
                <a:spcPts val="1200"/>
              </a:spcBef>
              <a:spcAft>
                <a:spcPts val="0"/>
              </a:spcAft>
              <a:buClr>
                <a:schemeClr val="dk1"/>
              </a:buClr>
              <a:buSzPts val="3200"/>
              <a:buFont typeface="Arial"/>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0"/>
          <p:cNvSpPr txBox="1"/>
          <p:nvPr>
            <p:ph type="title"/>
          </p:nvPr>
        </p:nvSpPr>
        <p:spPr>
          <a:xfrm>
            <a:off x="457200" y="228600"/>
            <a:ext cx="80010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4000"/>
              <a:buFont typeface="Calibri"/>
              <a:buNone/>
            </a:pPr>
            <a:r>
              <a:rPr b="0" i="0" lang="en-US" sz="4000" u="none">
                <a:solidFill>
                  <a:schemeClr val="lt1"/>
                </a:solidFill>
                <a:latin typeface="Calibri"/>
                <a:ea typeface="Calibri"/>
                <a:cs typeface="Calibri"/>
                <a:sym typeface="Calibri"/>
              </a:rPr>
              <a:t>Brief Description of Work / Project</a:t>
            </a:r>
            <a:endParaRPr/>
          </a:p>
        </p:txBody>
      </p:sp>
      <p:sp>
        <p:nvSpPr>
          <p:cNvPr id="143" name="Google Shape;143;p20"/>
          <p:cNvSpPr txBox="1"/>
          <p:nvPr>
            <p:ph idx="1" type="body"/>
          </p:nvPr>
        </p:nvSpPr>
        <p:spPr>
          <a:xfrm>
            <a:off x="457200" y="1731085"/>
            <a:ext cx="8001000" cy="48309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1200"/>
              </a:spcBef>
              <a:spcAft>
                <a:spcPts val="0"/>
              </a:spcAft>
              <a:buClr>
                <a:schemeClr val="dk1"/>
              </a:buClr>
              <a:buSzPts val="1100"/>
              <a:buFont typeface="Arial"/>
              <a:buNone/>
            </a:pPr>
            <a:r>
              <a:rPr lang="en-US" sz="1600">
                <a:latin typeface="Times New Roman"/>
                <a:ea typeface="Times New Roman"/>
                <a:cs typeface="Times New Roman"/>
                <a:sym typeface="Times New Roman"/>
              </a:rPr>
              <a:t>During the internship, multiple data science projects were carried out using real-world datasets from different domains. The work mainly involved data preprocessing, Exploratory Data Analysis (EDA), and data visualization to understand patterns and trends. Projects included analyzing streaming platform content to study distribution and ratings, examining mental health survey data to understand workplace factors, and analyzing e-commerce transactions to study customer behavior.</a:t>
            </a:r>
            <a:endParaRPr sz="1600">
              <a:latin typeface="Times New Roman"/>
              <a:ea typeface="Times New Roman"/>
              <a:cs typeface="Times New Roman"/>
              <a:sym typeface="Times New Roman"/>
            </a:endParaRPr>
          </a:p>
          <a:p>
            <a:pPr indent="457200" lvl="0" marL="0" rtl="0" algn="just">
              <a:lnSpc>
                <a:spcPct val="115000"/>
              </a:lnSpc>
              <a:spcBef>
                <a:spcPts val="1200"/>
              </a:spcBef>
              <a:spcAft>
                <a:spcPts val="0"/>
              </a:spcAft>
              <a:buClr>
                <a:schemeClr val="dk1"/>
              </a:buClr>
              <a:buSzPts val="1100"/>
              <a:buFont typeface="Arial"/>
              <a:buNone/>
            </a:pPr>
            <a:r>
              <a:rPr lang="en-US" sz="1600">
                <a:latin typeface="Times New Roman"/>
                <a:ea typeface="Times New Roman"/>
                <a:cs typeface="Times New Roman"/>
                <a:sym typeface="Times New Roman"/>
              </a:rPr>
              <a:t>In the advanced project, RFM (Recency, Frequency, Monetary) analysis and K-Means clustering were applied to segment customers into different groups such as high-value and at-risk customers. Overall, the work focused on deriving meaningful insights from data and applying basic machine learning techniques to support data-driven decision-making.</a:t>
            </a:r>
            <a:endParaRPr sz="1600">
              <a:latin typeface="Times New Roman"/>
              <a:ea typeface="Times New Roman"/>
              <a:cs typeface="Times New Roman"/>
              <a:sym typeface="Times New Roman"/>
            </a:endParaRPr>
          </a:p>
          <a:p>
            <a:pPr indent="-139700" lvl="0" marL="342900" marR="0" rtl="0" algn="l">
              <a:spcBef>
                <a:spcPts val="1200"/>
              </a:spcBef>
              <a:spcAft>
                <a:spcPts val="0"/>
              </a:spcAft>
              <a:buClr>
                <a:schemeClr val="dk1"/>
              </a:buClr>
              <a:buSzPts val="3200"/>
              <a:buFont typeface="Arial"/>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1"/>
          <p:cNvSpPr txBox="1"/>
          <p:nvPr>
            <p:ph type="title"/>
          </p:nvPr>
        </p:nvSpPr>
        <p:spPr>
          <a:xfrm>
            <a:off x="457200" y="228600"/>
            <a:ext cx="8001000" cy="685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Calibri"/>
              <a:buNone/>
            </a:pPr>
            <a:r>
              <a:rPr b="0" i="0" lang="en-US" sz="4400" u="none">
                <a:solidFill>
                  <a:schemeClr val="lt1"/>
                </a:solidFill>
                <a:latin typeface="Calibri"/>
                <a:ea typeface="Calibri"/>
                <a:cs typeface="Calibri"/>
                <a:sym typeface="Calibri"/>
              </a:rPr>
              <a:t>Learning Outcome</a:t>
            </a:r>
            <a:endParaRPr/>
          </a:p>
        </p:txBody>
      </p:sp>
      <p:sp>
        <p:nvSpPr>
          <p:cNvPr id="149" name="Google Shape;149;p21"/>
          <p:cNvSpPr txBox="1"/>
          <p:nvPr>
            <p:ph idx="1" type="body"/>
          </p:nvPr>
        </p:nvSpPr>
        <p:spPr>
          <a:xfrm>
            <a:off x="535725" y="1860176"/>
            <a:ext cx="7922400" cy="48309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300"/>
              </a:spcBef>
              <a:spcAft>
                <a:spcPts val="0"/>
              </a:spcAft>
              <a:buClr>
                <a:schemeClr val="dk1"/>
              </a:buClr>
              <a:buSzPts val="1100"/>
              <a:buFont typeface="Arial"/>
              <a:buNone/>
            </a:pPr>
            <a:r>
              <a:rPr lang="en-US" sz="1600">
                <a:latin typeface="Times New Roman"/>
                <a:ea typeface="Times New Roman"/>
                <a:cs typeface="Times New Roman"/>
                <a:sym typeface="Times New Roman"/>
              </a:rPr>
              <a:t>Through this project, I gained a strong understanding of data science concepts, particularly in data preprocessing, Exploratory Data Analysis (EDA), and data visualization. I developed the ability to work with real-world datasets, clean and transform data, and extract meaningful insights using Python libraries.</a:t>
            </a:r>
            <a:endParaRPr sz="1600">
              <a:latin typeface="Times New Roman"/>
              <a:ea typeface="Times New Roman"/>
              <a:cs typeface="Times New Roman"/>
              <a:sym typeface="Times New Roman"/>
            </a:endParaRPr>
          </a:p>
          <a:p>
            <a:pPr indent="457200" lvl="0" marL="0" rtl="0" algn="just">
              <a:lnSpc>
                <a:spcPct val="115000"/>
              </a:lnSpc>
              <a:spcBef>
                <a:spcPts val="1200"/>
              </a:spcBef>
              <a:spcAft>
                <a:spcPts val="0"/>
              </a:spcAft>
              <a:buClr>
                <a:schemeClr val="dk1"/>
              </a:buClr>
              <a:buSzPts val="1100"/>
              <a:buFont typeface="Arial"/>
              <a:buNone/>
            </a:pPr>
            <a:r>
              <a:rPr lang="en-US" sz="1600">
                <a:latin typeface="Times New Roman"/>
                <a:ea typeface="Times New Roman"/>
                <a:cs typeface="Times New Roman"/>
                <a:sym typeface="Times New Roman"/>
              </a:rPr>
              <a:t>I also acquired basic knowledge of machine learning techniques, especially customer segmentation using RFM analysis and K-Means clustering. The project helped improve my analytical thinking, problem-solving skills, and ability to interpret data for business decision-making, while providing hands-on experience in the complete data analysis workflow.</a:t>
            </a:r>
            <a:endParaRPr sz="1600">
              <a:latin typeface="Times New Roman"/>
              <a:ea typeface="Times New Roman"/>
              <a:cs typeface="Times New Roman"/>
              <a:sym typeface="Times New Roman"/>
            </a:endParaRPr>
          </a:p>
          <a:p>
            <a:pPr indent="-139700" lvl="0" marL="342900" marR="0" rtl="0" algn="l">
              <a:spcBef>
                <a:spcPts val="1200"/>
              </a:spcBef>
              <a:spcAft>
                <a:spcPts val="0"/>
              </a:spcAft>
              <a:buClr>
                <a:schemeClr val="dk1"/>
              </a:buClr>
              <a:buSzPts val="3200"/>
              <a:buFont typeface="Arial"/>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2"/>
          <p:cNvSpPr txBox="1"/>
          <p:nvPr>
            <p:ph type="title"/>
          </p:nvPr>
        </p:nvSpPr>
        <p:spPr>
          <a:xfrm>
            <a:off x="457200" y="228600"/>
            <a:ext cx="8001000" cy="685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Calibri"/>
              <a:buNone/>
            </a:pPr>
            <a:r>
              <a:rPr b="0" i="0" lang="en-US" sz="4400" u="none">
                <a:solidFill>
                  <a:schemeClr val="lt1"/>
                </a:solidFill>
                <a:latin typeface="Calibri"/>
                <a:ea typeface="Calibri"/>
                <a:cs typeface="Calibri"/>
                <a:sym typeface="Calibri"/>
              </a:rPr>
              <a:t>Conclusion</a:t>
            </a:r>
            <a:endParaRPr/>
          </a:p>
        </p:txBody>
      </p:sp>
      <p:sp>
        <p:nvSpPr>
          <p:cNvPr id="155" name="Google Shape;155;p22"/>
          <p:cNvSpPr txBox="1"/>
          <p:nvPr>
            <p:ph idx="1" type="body"/>
          </p:nvPr>
        </p:nvSpPr>
        <p:spPr>
          <a:xfrm>
            <a:off x="441064" y="1763358"/>
            <a:ext cx="8001000" cy="4830900"/>
          </a:xfrm>
          <a:prstGeom prst="rect">
            <a:avLst/>
          </a:prstGeom>
          <a:noFill/>
          <a:ln>
            <a:noFill/>
          </a:ln>
        </p:spPr>
        <p:txBody>
          <a:bodyPr anchorCtr="0" anchor="t" bIns="45700" lIns="91425" spcFirstLastPara="1" rIns="91425" wrap="square" tIns="45700">
            <a:noAutofit/>
          </a:bodyPr>
          <a:lstStyle/>
          <a:p>
            <a:pPr indent="457200" lvl="0" marL="0" rtl="0" algn="just">
              <a:lnSpc>
                <a:spcPct val="115000"/>
              </a:lnSpc>
              <a:spcBef>
                <a:spcPts val="300"/>
              </a:spcBef>
              <a:spcAft>
                <a:spcPts val="0"/>
              </a:spcAft>
              <a:buClr>
                <a:schemeClr val="dk1"/>
              </a:buClr>
              <a:buSzPts val="1100"/>
              <a:buFont typeface="Arial"/>
              <a:buNone/>
            </a:pPr>
            <a:r>
              <a:rPr lang="en-US" sz="1600">
                <a:latin typeface="Times New Roman"/>
                <a:ea typeface="Times New Roman"/>
                <a:cs typeface="Times New Roman"/>
                <a:sym typeface="Times New Roman"/>
              </a:rPr>
              <a:t>This project successfully demonstrates the practical application of data science techniques in analyzing real-world datasets and deriving meaningful insights. By applying data preprocessing, Exploratory Data Analysis (EDA), and visualization methods, important patterns and trends were identified across different domains.</a:t>
            </a:r>
            <a:endParaRPr sz="1600">
              <a:latin typeface="Times New Roman"/>
              <a:ea typeface="Times New Roman"/>
              <a:cs typeface="Times New Roman"/>
              <a:sym typeface="Times New Roman"/>
            </a:endParaRPr>
          </a:p>
          <a:p>
            <a:pPr indent="457200" lvl="0" marL="0" rtl="0" algn="just">
              <a:lnSpc>
                <a:spcPct val="115000"/>
              </a:lnSpc>
              <a:spcBef>
                <a:spcPts val="1200"/>
              </a:spcBef>
              <a:spcAft>
                <a:spcPts val="0"/>
              </a:spcAft>
              <a:buClr>
                <a:schemeClr val="dk1"/>
              </a:buClr>
              <a:buSzPts val="1100"/>
              <a:buFont typeface="Arial"/>
              <a:buNone/>
            </a:pPr>
            <a:r>
              <a:rPr lang="en-US" sz="1600">
                <a:latin typeface="Times New Roman"/>
                <a:ea typeface="Times New Roman"/>
                <a:cs typeface="Times New Roman"/>
                <a:sym typeface="Times New Roman"/>
              </a:rPr>
              <a:t>The implementation of RFM analysis and K-Means clustering in the e-commerce dataset further highlights how basic machine learning techniques can be used for customer segmentation and business decision-making. Overall, the project enhanced technical skills in Python and data handling while improving analytical thinking and problem-solving abilities, showing how data-driven approaches can support effective strategies and informed decisions.</a:t>
            </a:r>
            <a:endParaRPr sz="1600">
              <a:latin typeface="Times New Roman"/>
              <a:ea typeface="Times New Roman"/>
              <a:cs typeface="Times New Roman"/>
              <a:sym typeface="Times New Roman"/>
            </a:endParaRPr>
          </a:p>
          <a:p>
            <a:pPr indent="-139700" lvl="0" marL="342900" marR="0" rtl="0" algn="l">
              <a:spcBef>
                <a:spcPts val="1200"/>
              </a:spcBef>
              <a:spcAft>
                <a:spcPts val="0"/>
              </a:spcAft>
              <a:buClr>
                <a:schemeClr val="dk1"/>
              </a:buClr>
              <a:buSzPts val="3200"/>
              <a:buFont typeface="Arial"/>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3"/>
          <p:cNvSpPr txBox="1"/>
          <p:nvPr>
            <p:ph type="title"/>
          </p:nvPr>
        </p:nvSpPr>
        <p:spPr>
          <a:xfrm>
            <a:off x="457200" y="228600"/>
            <a:ext cx="80010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4000"/>
              <a:buFont typeface="Calibri"/>
              <a:buNone/>
            </a:pPr>
            <a:r>
              <a:rPr b="0" i="0" lang="en-US" sz="4000" u="none">
                <a:solidFill>
                  <a:schemeClr val="lt1"/>
                </a:solidFill>
                <a:latin typeface="Calibri"/>
                <a:ea typeface="Calibri"/>
                <a:cs typeface="Calibri"/>
                <a:sym typeface="Calibri"/>
              </a:rPr>
              <a:t>INTERNSHIP CERTIFICATE</a:t>
            </a:r>
            <a:endParaRPr/>
          </a:p>
        </p:txBody>
      </p:sp>
      <p:sp>
        <p:nvSpPr>
          <p:cNvPr id="161" name="Google Shape;161;p23"/>
          <p:cNvSpPr txBox="1"/>
          <p:nvPr>
            <p:ph idx="1" type="body"/>
          </p:nvPr>
        </p:nvSpPr>
        <p:spPr>
          <a:xfrm>
            <a:off x="228600" y="1295400"/>
            <a:ext cx="8686800" cy="4830762"/>
          </a:xfrm>
          <a:prstGeom prst="rect">
            <a:avLst/>
          </a:prstGeom>
          <a:noFill/>
          <a:ln>
            <a:noFill/>
          </a:ln>
        </p:spPr>
        <p:txBody>
          <a:bodyPr anchorCtr="0" anchor="t" bIns="45700" lIns="91425" spcFirstLastPara="1" rIns="91425" wrap="square" tIns="45700">
            <a:noAutofit/>
          </a:bodyPr>
          <a:lstStyle/>
          <a:p>
            <a:pPr indent="-139700" lvl="0" marL="3429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pic>
        <p:nvPicPr>
          <p:cNvPr id="162" name="Google Shape;162;p23"/>
          <p:cNvPicPr preferRelativeResize="0"/>
          <p:nvPr/>
        </p:nvPicPr>
        <p:blipFill>
          <a:blip r:embed="rId3">
            <a:alphaModFix/>
          </a:blip>
          <a:stretch>
            <a:fillRect/>
          </a:stretch>
        </p:blipFill>
        <p:spPr>
          <a:xfrm>
            <a:off x="457200" y="1470200"/>
            <a:ext cx="8001001" cy="41612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4"/>
          <p:cNvSpPr txBox="1"/>
          <p:nvPr/>
        </p:nvSpPr>
        <p:spPr>
          <a:xfrm>
            <a:off x="2286000" y="2743200"/>
            <a:ext cx="4572000" cy="1016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6A1B9A"/>
              </a:buClr>
              <a:buSzPts val="6000"/>
              <a:buFont typeface="Arial"/>
              <a:buNone/>
            </a:pPr>
            <a:r>
              <a:rPr b="1" i="0" lang="en-US" sz="6000" u="none">
                <a:solidFill>
                  <a:srgbClr val="6A1B9A"/>
                </a:solidFill>
                <a:latin typeface="Arial"/>
                <a:ea typeface="Arial"/>
                <a:cs typeface="Arial"/>
                <a:sym typeface="Arial"/>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